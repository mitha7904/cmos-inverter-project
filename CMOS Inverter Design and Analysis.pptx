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16000" y="2794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3111500"/>
            <a:ext cx="1422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CMOS Inverter Design and Analysis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6000" y="4064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4699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Submitted By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52705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Madhumitha 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16000" y="5969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Electronics and Communication Engineering (ECE)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0" y="6477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VLSI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952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1270000"/>
            <a:ext cx="14224000" cy="711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270000"/>
            <a:ext cx="14224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7" name="Shape 5"/>
          <p:cNvSpPr/>
          <p:nvPr/>
        </p:nvSpPr>
        <p:spPr>
          <a:xfrm>
            <a:off x="13970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1587500"/>
            <a:ext cx="1282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CMOS (Complementary Metal Oxide Semiconductor)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inverter is the most fundamental building block of digital integrated circuits. It consists of one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PMOS transistor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one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NMOS transistor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connected in a complementary configuration.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97000" y="361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0" name="Text 8"/>
          <p:cNvSpPr/>
          <p:nvPr/>
        </p:nvSpPr>
        <p:spPr>
          <a:xfrm>
            <a:off x="2032000" y="3492500"/>
            <a:ext cx="1282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CMOS technology is widely used in modern electronic systems because of its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consumption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noise immunity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switching characteristics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970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119539"/>
                </a:moveTo>
                <a:lnTo>
                  <a:pt x="322739" y="195739"/>
                </a:lnTo>
                <a:cubicBezTo>
                  <a:pt x="315436" y="203041"/>
                  <a:pt x="304562" y="205184"/>
                  <a:pt x="295037" y="201216"/>
                </a:cubicBezTo>
                <a:cubicBezTo>
                  <a:pt x="285512" y="197247"/>
                  <a:pt x="279400" y="188039"/>
                  <a:pt x="279400" y="177800"/>
                </a:cubicBezTo>
                <a:lnTo>
                  <a:pt x="279400" y="127000"/>
                </a:ln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279400" y="76200"/>
                </a:lnTo>
                <a:lnTo>
                  <a:pt x="279400" y="25400"/>
                </a:lnTo>
                <a:cubicBezTo>
                  <a:pt x="279400" y="15161"/>
                  <a:pt x="285591" y="5874"/>
                  <a:pt x="295116" y="1905"/>
                </a:cubicBezTo>
                <a:cubicBezTo>
                  <a:pt x="304641" y="-2064"/>
                  <a:pt x="315516" y="159"/>
                  <a:pt x="322818" y="7382"/>
                </a:cubicBezTo>
                <a:lnTo>
                  <a:pt x="399018" y="83582"/>
                </a:lnTo>
                <a:cubicBezTo>
                  <a:pt x="408940" y="93504"/>
                  <a:pt x="408940" y="109617"/>
                  <a:pt x="399018" y="119539"/>
                </a:cubicBezTo>
                <a:close/>
                <a:moveTo>
                  <a:pt x="83582" y="398939"/>
                </a:moveTo>
                <a:lnTo>
                  <a:pt x="7382" y="322739"/>
                </a:lnTo>
                <a:cubicBezTo>
                  <a:pt x="-2540" y="312817"/>
                  <a:pt x="-2540" y="296704"/>
                  <a:pt x="7382" y="286782"/>
                </a:cubicBezTo>
                <a:lnTo>
                  <a:pt x="83582" y="210582"/>
                </a:lnTo>
                <a:cubicBezTo>
                  <a:pt x="90884" y="203279"/>
                  <a:pt x="101759" y="201136"/>
                  <a:pt x="111284" y="205105"/>
                </a:cubicBezTo>
                <a:cubicBezTo>
                  <a:pt x="120809" y="209074"/>
                  <a:pt x="127000" y="218361"/>
                  <a:pt x="127000" y="228600"/>
                </a:cubicBezTo>
                <a:lnTo>
                  <a:pt x="12700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cubicBezTo>
                  <a:pt x="406400" y="318849"/>
                  <a:pt x="395049" y="330200"/>
                  <a:pt x="381000" y="330200"/>
                </a:cubicBezTo>
                <a:lnTo>
                  <a:pt x="127000" y="330200"/>
                </a:lnTo>
                <a:lnTo>
                  <a:pt x="127000" y="381000"/>
                </a:lnTo>
                <a:cubicBezTo>
                  <a:pt x="127000" y="391239"/>
                  <a:pt x="120809" y="400526"/>
                  <a:pt x="111284" y="404495"/>
                </a:cubicBezTo>
                <a:cubicBezTo>
                  <a:pt x="101759" y="408464"/>
                  <a:pt x="90884" y="406241"/>
                  <a:pt x="83582" y="399018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2" name="Text 10"/>
          <p:cNvSpPr/>
          <p:nvPr/>
        </p:nvSpPr>
        <p:spPr>
          <a:xfrm>
            <a:off x="2032000" y="5397500"/>
            <a:ext cx="1282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inverter performs the basic logic operation of converting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 HIGH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input into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 LOW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output and </a:t>
            </a:r>
            <a:pPr algn="l">
              <a:lnSpc>
                <a:spcPct val="160000"/>
              </a:lnSpc>
            </a:pPr>
            <a:r>
              <a:rPr lang="en-US" sz="2000" i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vice versa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952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1270000"/>
            <a:ext cx="6858000" cy="711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270000"/>
            <a:ext cx="6858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7" name="Shape 5"/>
          <p:cNvSpPr/>
          <p:nvPr/>
        </p:nvSpPr>
        <p:spPr>
          <a:xfrm>
            <a:off x="1397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0591" y="0"/>
                </a:moveTo>
                <a:cubicBezTo>
                  <a:pt x="293926" y="0"/>
                  <a:pt x="306705" y="5278"/>
                  <a:pt x="316081" y="14724"/>
                </a:cubicBezTo>
                <a:lnTo>
                  <a:pt x="340876" y="39519"/>
                </a:lnTo>
                <a:cubicBezTo>
                  <a:pt x="350322" y="48895"/>
                  <a:pt x="355600" y="61674"/>
                  <a:pt x="355600" y="75009"/>
                </a:cubicBezTo>
                <a:cubicBezTo>
                  <a:pt x="355600" y="88344"/>
                  <a:pt x="350322" y="101124"/>
                  <a:pt x="340876" y="110500"/>
                </a:cubicBezTo>
                <a:lnTo>
                  <a:pt x="309691" y="141684"/>
                </a:lnTo>
                <a:lnTo>
                  <a:pt x="213916" y="45909"/>
                </a:lnTo>
                <a:lnTo>
                  <a:pt x="245100" y="14724"/>
                </a:lnTo>
                <a:cubicBezTo>
                  <a:pt x="254476" y="5278"/>
                  <a:pt x="267256" y="0"/>
                  <a:pt x="280591" y="0"/>
                </a:cubicBezTo>
                <a:close/>
                <a:moveTo>
                  <a:pt x="40908" y="218847"/>
                </a:moveTo>
                <a:lnTo>
                  <a:pt x="190371" y="69453"/>
                </a:lnTo>
                <a:lnTo>
                  <a:pt x="286147" y="165229"/>
                </a:lnTo>
                <a:lnTo>
                  <a:pt x="136753" y="314692"/>
                </a:lnTo>
                <a:cubicBezTo>
                  <a:pt x="129322" y="322124"/>
                  <a:pt x="120015" y="327541"/>
                  <a:pt x="109875" y="330389"/>
                </a:cubicBezTo>
                <a:lnTo>
                  <a:pt x="21114" y="354975"/>
                </a:lnTo>
                <a:cubicBezTo>
                  <a:pt x="15349" y="356572"/>
                  <a:pt x="9098" y="354975"/>
                  <a:pt x="4862" y="350669"/>
                </a:cubicBezTo>
                <a:cubicBezTo>
                  <a:pt x="625" y="346363"/>
                  <a:pt x="-1042" y="340181"/>
                  <a:pt x="556" y="334417"/>
                </a:cubicBezTo>
                <a:lnTo>
                  <a:pt x="25281" y="245725"/>
                </a:lnTo>
                <a:cubicBezTo>
                  <a:pt x="28129" y="235585"/>
                  <a:pt x="33476" y="226348"/>
                  <a:pt x="40977" y="218847"/>
                </a:cubicBezTo>
                <a:close/>
                <a:moveTo>
                  <a:pt x="156547" y="56118"/>
                </a:moveTo>
                <a:lnTo>
                  <a:pt x="56118" y="156547"/>
                </a:lnTo>
                <a:lnTo>
                  <a:pt x="8126" y="108555"/>
                </a:lnTo>
                <a:cubicBezTo>
                  <a:pt x="-2709" y="97721"/>
                  <a:pt x="-2709" y="80149"/>
                  <a:pt x="8126" y="69245"/>
                </a:cubicBezTo>
                <a:lnTo>
                  <a:pt x="69245" y="8126"/>
                </a:lnTo>
                <a:cubicBezTo>
                  <a:pt x="80079" y="-2709"/>
                  <a:pt x="97651" y="-2709"/>
                  <a:pt x="108555" y="8126"/>
                </a:cubicBezTo>
                <a:lnTo>
                  <a:pt x="112653" y="12224"/>
                </a:lnTo>
                <a:lnTo>
                  <a:pt x="73551" y="51326"/>
                </a:lnTo>
                <a:cubicBezTo>
                  <a:pt x="68134" y="56743"/>
                  <a:pt x="68134" y="65564"/>
                  <a:pt x="73551" y="70981"/>
                </a:cubicBezTo>
                <a:cubicBezTo>
                  <a:pt x="78968" y="76398"/>
                  <a:pt x="87789" y="76398"/>
                  <a:pt x="93206" y="70981"/>
                </a:cubicBezTo>
                <a:lnTo>
                  <a:pt x="132308" y="31879"/>
                </a:lnTo>
                <a:lnTo>
                  <a:pt x="156547" y="56118"/>
                </a:lnTo>
                <a:close/>
                <a:moveTo>
                  <a:pt x="299482" y="199053"/>
                </a:moveTo>
                <a:lnTo>
                  <a:pt x="323721" y="223292"/>
                </a:lnTo>
                <a:lnTo>
                  <a:pt x="284619" y="262394"/>
                </a:lnTo>
                <a:cubicBezTo>
                  <a:pt x="279202" y="267811"/>
                  <a:pt x="279202" y="276632"/>
                  <a:pt x="284619" y="282049"/>
                </a:cubicBezTo>
                <a:cubicBezTo>
                  <a:pt x="290036" y="287466"/>
                  <a:pt x="298857" y="287466"/>
                  <a:pt x="304274" y="282049"/>
                </a:cubicBezTo>
                <a:lnTo>
                  <a:pt x="343376" y="242947"/>
                </a:lnTo>
                <a:lnTo>
                  <a:pt x="347474" y="247045"/>
                </a:lnTo>
                <a:cubicBezTo>
                  <a:pt x="358309" y="257879"/>
                  <a:pt x="358309" y="275451"/>
                  <a:pt x="347474" y="286355"/>
                </a:cubicBezTo>
                <a:lnTo>
                  <a:pt x="286355" y="347474"/>
                </a:lnTo>
                <a:cubicBezTo>
                  <a:pt x="275521" y="358309"/>
                  <a:pt x="257949" y="358309"/>
                  <a:pt x="247045" y="347474"/>
                </a:cubicBezTo>
                <a:lnTo>
                  <a:pt x="199053" y="299482"/>
                </a:lnTo>
                <a:lnTo>
                  <a:pt x="299482" y="199053"/>
                </a:ln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1968500" y="1651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 CMOS inverter using PMOS and NMOS transistors.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97000" y="298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0" name="Text 8"/>
          <p:cNvSpPr/>
          <p:nvPr/>
        </p:nvSpPr>
        <p:spPr>
          <a:xfrm>
            <a:off x="1968500" y="2921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 the circuit using LTspice software.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97000" y="425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2" name="Text 10"/>
          <p:cNvSpPr/>
          <p:nvPr/>
        </p:nvSpPr>
        <p:spPr>
          <a:xfrm>
            <a:off x="1968500" y="4191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the switching characteristics of the inverter.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82000" y="1270000"/>
            <a:ext cx="6858000" cy="711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0" y="1270000"/>
            <a:ext cx="6858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5" name="Shape 13"/>
          <p:cNvSpPr/>
          <p:nvPr/>
        </p:nvSpPr>
        <p:spPr>
          <a:xfrm>
            <a:off x="8763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747" y="0"/>
                </a:moveTo>
                <a:cubicBezTo>
                  <a:pt x="123190" y="0"/>
                  <a:pt x="114697" y="7431"/>
                  <a:pt x="114697" y="16669"/>
                </a:cubicBezTo>
                <a:cubicBezTo>
                  <a:pt x="114697" y="25906"/>
                  <a:pt x="123190" y="33337"/>
                  <a:pt x="133747" y="33337"/>
                </a:cubicBezTo>
                <a:lnTo>
                  <a:pt x="159147" y="33337"/>
                </a:lnTo>
                <a:lnTo>
                  <a:pt x="159147" y="50909"/>
                </a:lnTo>
                <a:cubicBezTo>
                  <a:pt x="73422" y="59174"/>
                  <a:pt x="6747" y="122793"/>
                  <a:pt x="6747" y="200025"/>
                </a:cubicBezTo>
                <a:cubicBezTo>
                  <a:pt x="6747" y="282883"/>
                  <a:pt x="83503" y="350044"/>
                  <a:pt x="178197" y="350044"/>
                </a:cubicBezTo>
                <a:cubicBezTo>
                  <a:pt x="272891" y="350044"/>
                  <a:pt x="349647" y="282883"/>
                  <a:pt x="349647" y="200025"/>
                </a:cubicBezTo>
                <a:cubicBezTo>
                  <a:pt x="349647" y="172383"/>
                  <a:pt x="341074" y="146477"/>
                  <a:pt x="326152" y="124182"/>
                </a:cubicBezTo>
                <a:lnTo>
                  <a:pt x="348536" y="104596"/>
                </a:lnTo>
                <a:cubicBezTo>
                  <a:pt x="358458" y="95915"/>
                  <a:pt x="358458" y="81816"/>
                  <a:pt x="348536" y="73134"/>
                </a:cubicBezTo>
                <a:cubicBezTo>
                  <a:pt x="338614" y="64453"/>
                  <a:pt x="322501" y="64453"/>
                  <a:pt x="312579" y="73134"/>
                </a:cubicBezTo>
                <a:lnTo>
                  <a:pt x="294005" y="89386"/>
                </a:lnTo>
                <a:cubicBezTo>
                  <a:pt x="267891" y="68411"/>
                  <a:pt x="234315" y="54451"/>
                  <a:pt x="197167" y="50840"/>
                </a:cubicBezTo>
                <a:lnTo>
                  <a:pt x="197167" y="33268"/>
                </a:lnTo>
                <a:lnTo>
                  <a:pt x="222567" y="33268"/>
                </a:lnTo>
                <a:cubicBezTo>
                  <a:pt x="233124" y="33268"/>
                  <a:pt x="241618" y="25837"/>
                  <a:pt x="241618" y="16599"/>
                </a:cubicBezTo>
                <a:cubicBezTo>
                  <a:pt x="241618" y="7362"/>
                  <a:pt x="233124" y="-69"/>
                  <a:pt x="222567" y="-69"/>
                </a:cubicBezTo>
                <a:lnTo>
                  <a:pt x="133667" y="-69"/>
                </a:lnTo>
                <a:close/>
                <a:moveTo>
                  <a:pt x="197247" y="127794"/>
                </a:moveTo>
                <a:lnTo>
                  <a:pt x="197247" y="200025"/>
                </a:lnTo>
                <a:cubicBezTo>
                  <a:pt x="197247" y="209262"/>
                  <a:pt x="188754" y="216694"/>
                  <a:pt x="178197" y="216694"/>
                </a:cubicBezTo>
                <a:cubicBezTo>
                  <a:pt x="167640" y="216694"/>
                  <a:pt x="159147" y="209262"/>
                  <a:pt x="159147" y="200025"/>
                </a:cubicBezTo>
                <a:lnTo>
                  <a:pt x="159147" y="127794"/>
                </a:lnTo>
                <a:cubicBezTo>
                  <a:pt x="159147" y="118556"/>
                  <a:pt x="167640" y="111125"/>
                  <a:pt x="178197" y="111125"/>
                </a:cubicBezTo>
                <a:cubicBezTo>
                  <a:pt x="188754" y="111125"/>
                  <a:pt x="197247" y="118556"/>
                  <a:pt x="197247" y="127794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0" y="1651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the propagation delay between input and output signals.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763000" y="298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0" y="2921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the effect of transistor sizing on circuit performance.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63000" y="425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20" name="Text 18"/>
          <p:cNvSpPr/>
          <p:nvPr/>
        </p:nvSpPr>
        <p:spPr>
          <a:xfrm>
            <a:off x="9334500" y="4191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the inverter operation through simulation results.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952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1270000"/>
            <a:ext cx="4445000" cy="711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2700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7" name="Shape 5"/>
          <p:cNvSpPr/>
          <p:nvPr/>
        </p:nvSpPr>
        <p:spPr>
          <a:xfrm>
            <a:off x="2730500" y="1778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" y="119062"/>
                </a:moveTo>
                <a:cubicBezTo>
                  <a:pt x="63500" y="75282"/>
                  <a:pt x="91976" y="39688"/>
                  <a:pt x="127000" y="39688"/>
                </a:cubicBezTo>
                <a:lnTo>
                  <a:pt x="508000" y="39688"/>
                </a:lnTo>
                <a:cubicBezTo>
                  <a:pt x="543024" y="39688"/>
                  <a:pt x="571500" y="75282"/>
                  <a:pt x="571500" y="119062"/>
                </a:cubicBezTo>
                <a:lnTo>
                  <a:pt x="571500" y="416719"/>
                </a:lnTo>
                <a:lnTo>
                  <a:pt x="508000" y="416719"/>
                </a:lnTo>
                <a:lnTo>
                  <a:pt x="508000" y="119062"/>
                </a:lnTo>
                <a:lnTo>
                  <a:pt x="127000" y="119062"/>
                </a:lnTo>
                <a:lnTo>
                  <a:pt x="127000" y="416719"/>
                </a:lnTo>
                <a:lnTo>
                  <a:pt x="63500" y="416719"/>
                </a:lnTo>
                <a:lnTo>
                  <a:pt x="63500" y="119062"/>
                </a:lnTo>
                <a:close/>
                <a:moveTo>
                  <a:pt x="0" y="500063"/>
                </a:moveTo>
                <a:cubicBezTo>
                  <a:pt x="0" y="486916"/>
                  <a:pt x="8533" y="476250"/>
                  <a:pt x="19050" y="476250"/>
                </a:cubicBezTo>
                <a:lnTo>
                  <a:pt x="615950" y="476250"/>
                </a:lnTo>
                <a:cubicBezTo>
                  <a:pt x="626467" y="476250"/>
                  <a:pt x="635000" y="486916"/>
                  <a:pt x="635000" y="500063"/>
                </a:cubicBezTo>
                <a:cubicBezTo>
                  <a:pt x="635000" y="552648"/>
                  <a:pt x="600869" y="595313"/>
                  <a:pt x="558800" y="595313"/>
                </a:cubicBezTo>
                <a:lnTo>
                  <a:pt x="76200" y="595313"/>
                </a:lnTo>
                <a:cubicBezTo>
                  <a:pt x="34131" y="595313"/>
                  <a:pt x="0" y="552648"/>
                  <a:pt x="0" y="500063"/>
                </a:cubicBezTo>
                <a:close/>
                <a:moveTo>
                  <a:pt x="278805" y="259209"/>
                </a:moveTo>
                <a:lnTo>
                  <a:pt x="248047" y="297656"/>
                </a:lnTo>
                <a:lnTo>
                  <a:pt x="278805" y="336104"/>
                </a:lnTo>
                <a:cubicBezTo>
                  <a:pt x="288131" y="347762"/>
                  <a:pt x="288131" y="366613"/>
                  <a:pt x="278805" y="378147"/>
                </a:cubicBezTo>
                <a:cubicBezTo>
                  <a:pt x="269478" y="389682"/>
                  <a:pt x="254397" y="389806"/>
                  <a:pt x="245170" y="378147"/>
                </a:cubicBezTo>
                <a:lnTo>
                  <a:pt x="197545" y="318616"/>
                </a:lnTo>
                <a:cubicBezTo>
                  <a:pt x="188218" y="306958"/>
                  <a:pt x="188218" y="288106"/>
                  <a:pt x="197545" y="276572"/>
                </a:cubicBezTo>
                <a:lnTo>
                  <a:pt x="245170" y="217041"/>
                </a:lnTo>
                <a:cubicBezTo>
                  <a:pt x="254496" y="205383"/>
                  <a:pt x="269577" y="205383"/>
                  <a:pt x="278805" y="217041"/>
                </a:cubicBezTo>
                <a:cubicBezTo>
                  <a:pt x="288032" y="228699"/>
                  <a:pt x="288131" y="247551"/>
                  <a:pt x="278805" y="259085"/>
                </a:cubicBezTo>
                <a:close/>
                <a:moveTo>
                  <a:pt x="389930" y="217041"/>
                </a:moveTo>
                <a:lnTo>
                  <a:pt x="437555" y="276572"/>
                </a:lnTo>
                <a:cubicBezTo>
                  <a:pt x="446881" y="288230"/>
                  <a:pt x="446881" y="307082"/>
                  <a:pt x="437555" y="318616"/>
                </a:cubicBezTo>
                <a:lnTo>
                  <a:pt x="389930" y="378147"/>
                </a:lnTo>
                <a:cubicBezTo>
                  <a:pt x="380603" y="389806"/>
                  <a:pt x="365522" y="389806"/>
                  <a:pt x="356295" y="378147"/>
                </a:cubicBezTo>
                <a:cubicBezTo>
                  <a:pt x="347067" y="366489"/>
                  <a:pt x="346968" y="347638"/>
                  <a:pt x="356295" y="336104"/>
                </a:cubicBezTo>
                <a:lnTo>
                  <a:pt x="387052" y="297656"/>
                </a:lnTo>
                <a:lnTo>
                  <a:pt x="356295" y="259209"/>
                </a:lnTo>
                <a:cubicBezTo>
                  <a:pt x="346968" y="247551"/>
                  <a:pt x="346968" y="228699"/>
                  <a:pt x="356295" y="217165"/>
                </a:cubicBezTo>
                <a:cubicBezTo>
                  <a:pt x="365621" y="205631"/>
                  <a:pt x="380702" y="205507"/>
                  <a:pt x="389930" y="217165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2667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778000" y="3238500"/>
            <a:ext cx="2921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70000" y="4699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LTspice Simulation Software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05500" y="1270000"/>
            <a:ext cx="4445000" cy="711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2" name="Shape 10"/>
          <p:cNvSpPr/>
          <p:nvPr/>
        </p:nvSpPr>
        <p:spPr>
          <a:xfrm>
            <a:off x="5905500" y="12700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0" y="1778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12651" y="261069"/>
                </a:moveTo>
                <a:cubicBezTo>
                  <a:pt x="424755" y="256977"/>
                  <a:pt x="437455" y="264170"/>
                  <a:pt x="442912" y="278185"/>
                </a:cubicBezTo>
                <a:lnTo>
                  <a:pt x="461367" y="324817"/>
                </a:lnTo>
                <a:cubicBezTo>
                  <a:pt x="471587" y="326554"/>
                  <a:pt x="481608" y="330026"/>
                  <a:pt x="491034" y="334863"/>
                </a:cubicBezTo>
                <a:lnTo>
                  <a:pt x="525760" y="305966"/>
                </a:lnTo>
                <a:cubicBezTo>
                  <a:pt x="536178" y="297284"/>
                  <a:pt x="549970" y="299021"/>
                  <a:pt x="558800" y="310059"/>
                </a:cubicBezTo>
                <a:lnTo>
                  <a:pt x="577850" y="333871"/>
                </a:lnTo>
                <a:cubicBezTo>
                  <a:pt x="586680" y="344909"/>
                  <a:pt x="588070" y="362272"/>
                  <a:pt x="581124" y="375171"/>
                </a:cubicBezTo>
                <a:lnTo>
                  <a:pt x="558006" y="418455"/>
                </a:lnTo>
                <a:cubicBezTo>
                  <a:pt x="559891" y="424284"/>
                  <a:pt x="561578" y="430361"/>
                  <a:pt x="562967" y="436687"/>
                </a:cubicBezTo>
                <a:cubicBezTo>
                  <a:pt x="564356" y="443012"/>
                  <a:pt x="565249" y="449213"/>
                  <a:pt x="565944" y="455538"/>
                </a:cubicBezTo>
                <a:lnTo>
                  <a:pt x="603349" y="478606"/>
                </a:lnTo>
                <a:cubicBezTo>
                  <a:pt x="614561" y="485552"/>
                  <a:pt x="620316" y="501427"/>
                  <a:pt x="617041" y="516434"/>
                </a:cubicBezTo>
                <a:lnTo>
                  <a:pt x="610096" y="548928"/>
                </a:lnTo>
                <a:cubicBezTo>
                  <a:pt x="606822" y="563935"/>
                  <a:pt x="595610" y="574104"/>
                  <a:pt x="583109" y="573112"/>
                </a:cubicBezTo>
                <a:lnTo>
                  <a:pt x="541437" y="569764"/>
                </a:lnTo>
                <a:cubicBezTo>
                  <a:pt x="535186" y="579810"/>
                  <a:pt x="527943" y="589111"/>
                  <a:pt x="519708" y="597049"/>
                </a:cubicBezTo>
                <a:lnTo>
                  <a:pt x="522387" y="649015"/>
                </a:lnTo>
                <a:cubicBezTo>
                  <a:pt x="523180" y="664642"/>
                  <a:pt x="515045" y="678780"/>
                  <a:pt x="503039" y="682749"/>
                </a:cubicBezTo>
                <a:lnTo>
                  <a:pt x="477044" y="691431"/>
                </a:lnTo>
                <a:cubicBezTo>
                  <a:pt x="464939" y="695523"/>
                  <a:pt x="452338" y="688330"/>
                  <a:pt x="446782" y="674315"/>
                </a:cubicBezTo>
                <a:lnTo>
                  <a:pt x="428327" y="627683"/>
                </a:lnTo>
                <a:cubicBezTo>
                  <a:pt x="418108" y="625946"/>
                  <a:pt x="408087" y="622474"/>
                  <a:pt x="398661" y="617637"/>
                </a:cubicBezTo>
                <a:lnTo>
                  <a:pt x="363934" y="646534"/>
                </a:lnTo>
                <a:cubicBezTo>
                  <a:pt x="353516" y="655216"/>
                  <a:pt x="339725" y="653479"/>
                  <a:pt x="330895" y="642441"/>
                </a:cubicBezTo>
                <a:lnTo>
                  <a:pt x="311845" y="618629"/>
                </a:lnTo>
                <a:cubicBezTo>
                  <a:pt x="303014" y="607591"/>
                  <a:pt x="301625" y="590352"/>
                  <a:pt x="308570" y="577329"/>
                </a:cubicBezTo>
                <a:lnTo>
                  <a:pt x="331688" y="533921"/>
                </a:lnTo>
                <a:cubicBezTo>
                  <a:pt x="329803" y="528092"/>
                  <a:pt x="328116" y="522015"/>
                  <a:pt x="326727" y="515689"/>
                </a:cubicBezTo>
                <a:cubicBezTo>
                  <a:pt x="325338" y="509364"/>
                  <a:pt x="324445" y="503039"/>
                  <a:pt x="323751" y="496838"/>
                </a:cubicBezTo>
                <a:lnTo>
                  <a:pt x="286345" y="473770"/>
                </a:lnTo>
                <a:cubicBezTo>
                  <a:pt x="275134" y="466824"/>
                  <a:pt x="269478" y="450949"/>
                  <a:pt x="272653" y="435942"/>
                </a:cubicBezTo>
                <a:lnTo>
                  <a:pt x="279598" y="403448"/>
                </a:lnTo>
                <a:cubicBezTo>
                  <a:pt x="282873" y="388441"/>
                  <a:pt x="294084" y="378271"/>
                  <a:pt x="306586" y="379264"/>
                </a:cubicBezTo>
                <a:lnTo>
                  <a:pt x="348159" y="382612"/>
                </a:lnTo>
                <a:cubicBezTo>
                  <a:pt x="354409" y="372566"/>
                  <a:pt x="361652" y="363265"/>
                  <a:pt x="369887" y="355327"/>
                </a:cubicBezTo>
                <a:lnTo>
                  <a:pt x="367209" y="303485"/>
                </a:lnTo>
                <a:cubicBezTo>
                  <a:pt x="366415" y="287858"/>
                  <a:pt x="374551" y="273720"/>
                  <a:pt x="386556" y="269751"/>
                </a:cubicBezTo>
                <a:lnTo>
                  <a:pt x="412552" y="261069"/>
                </a:lnTo>
                <a:close/>
                <a:moveTo>
                  <a:pt x="444897" y="421680"/>
                </a:moveTo>
                <a:cubicBezTo>
                  <a:pt x="420802" y="421714"/>
                  <a:pt x="401263" y="446194"/>
                  <a:pt x="401290" y="476312"/>
                </a:cubicBezTo>
                <a:cubicBezTo>
                  <a:pt x="401318" y="506430"/>
                  <a:pt x="420902" y="530855"/>
                  <a:pt x="444996" y="530820"/>
                </a:cubicBezTo>
                <a:cubicBezTo>
                  <a:pt x="469091" y="530786"/>
                  <a:pt x="488630" y="506306"/>
                  <a:pt x="488603" y="476188"/>
                </a:cubicBezTo>
                <a:cubicBezTo>
                  <a:pt x="488575" y="446070"/>
                  <a:pt x="468991" y="421645"/>
                  <a:pt x="444897" y="421680"/>
                </a:cubicBezTo>
                <a:close/>
                <a:moveTo>
                  <a:pt x="223143" y="-56431"/>
                </a:moveTo>
                <a:lnTo>
                  <a:pt x="249138" y="-47749"/>
                </a:lnTo>
                <a:cubicBezTo>
                  <a:pt x="261144" y="-43656"/>
                  <a:pt x="269280" y="-29518"/>
                  <a:pt x="268486" y="-14015"/>
                </a:cubicBezTo>
                <a:lnTo>
                  <a:pt x="265807" y="37827"/>
                </a:lnTo>
                <a:cubicBezTo>
                  <a:pt x="274042" y="45765"/>
                  <a:pt x="281285" y="54942"/>
                  <a:pt x="287536" y="65112"/>
                </a:cubicBezTo>
                <a:lnTo>
                  <a:pt x="329208" y="61764"/>
                </a:lnTo>
                <a:cubicBezTo>
                  <a:pt x="341610" y="60771"/>
                  <a:pt x="352921" y="70941"/>
                  <a:pt x="356195" y="85948"/>
                </a:cubicBezTo>
                <a:lnTo>
                  <a:pt x="363141" y="118442"/>
                </a:lnTo>
                <a:cubicBezTo>
                  <a:pt x="366316" y="133449"/>
                  <a:pt x="360660" y="149324"/>
                  <a:pt x="349448" y="156270"/>
                </a:cubicBezTo>
                <a:lnTo>
                  <a:pt x="312043" y="179338"/>
                </a:lnTo>
                <a:cubicBezTo>
                  <a:pt x="311348" y="185663"/>
                  <a:pt x="310356" y="191988"/>
                  <a:pt x="309066" y="198189"/>
                </a:cubicBezTo>
                <a:cubicBezTo>
                  <a:pt x="307777" y="204391"/>
                  <a:pt x="305991" y="210592"/>
                  <a:pt x="304105" y="216421"/>
                </a:cubicBezTo>
                <a:lnTo>
                  <a:pt x="327223" y="259829"/>
                </a:lnTo>
                <a:cubicBezTo>
                  <a:pt x="334169" y="272852"/>
                  <a:pt x="332780" y="290091"/>
                  <a:pt x="323949" y="301129"/>
                </a:cubicBezTo>
                <a:lnTo>
                  <a:pt x="304899" y="324941"/>
                </a:lnTo>
                <a:cubicBezTo>
                  <a:pt x="296069" y="335979"/>
                  <a:pt x="282277" y="337716"/>
                  <a:pt x="271859" y="329034"/>
                </a:cubicBezTo>
                <a:lnTo>
                  <a:pt x="237133" y="300137"/>
                </a:lnTo>
                <a:cubicBezTo>
                  <a:pt x="227707" y="304974"/>
                  <a:pt x="217686" y="308446"/>
                  <a:pt x="207466" y="310183"/>
                </a:cubicBezTo>
                <a:lnTo>
                  <a:pt x="189012" y="356815"/>
                </a:lnTo>
                <a:cubicBezTo>
                  <a:pt x="183455" y="370830"/>
                  <a:pt x="170755" y="377899"/>
                  <a:pt x="158750" y="373931"/>
                </a:cubicBezTo>
                <a:lnTo>
                  <a:pt x="132755" y="365249"/>
                </a:lnTo>
                <a:cubicBezTo>
                  <a:pt x="120650" y="361156"/>
                  <a:pt x="112613" y="347018"/>
                  <a:pt x="113407" y="331515"/>
                </a:cubicBezTo>
                <a:lnTo>
                  <a:pt x="116086" y="279549"/>
                </a:lnTo>
                <a:cubicBezTo>
                  <a:pt x="107851" y="271611"/>
                  <a:pt x="100608" y="262434"/>
                  <a:pt x="94357" y="252264"/>
                </a:cubicBezTo>
                <a:lnTo>
                  <a:pt x="52685" y="255612"/>
                </a:lnTo>
                <a:cubicBezTo>
                  <a:pt x="40283" y="256604"/>
                  <a:pt x="28972" y="246435"/>
                  <a:pt x="25698" y="231428"/>
                </a:cubicBezTo>
                <a:lnTo>
                  <a:pt x="18752" y="198934"/>
                </a:lnTo>
                <a:cubicBezTo>
                  <a:pt x="15577" y="183927"/>
                  <a:pt x="21233" y="168052"/>
                  <a:pt x="32445" y="161106"/>
                </a:cubicBezTo>
                <a:lnTo>
                  <a:pt x="69850" y="138038"/>
                </a:lnTo>
                <a:cubicBezTo>
                  <a:pt x="70545" y="131713"/>
                  <a:pt x="71537" y="125512"/>
                  <a:pt x="72827" y="119187"/>
                </a:cubicBezTo>
                <a:cubicBezTo>
                  <a:pt x="74216" y="112861"/>
                  <a:pt x="75803" y="106784"/>
                  <a:pt x="77788" y="100955"/>
                </a:cubicBezTo>
                <a:lnTo>
                  <a:pt x="54670" y="57671"/>
                </a:lnTo>
                <a:cubicBezTo>
                  <a:pt x="47724" y="44648"/>
                  <a:pt x="49113" y="27409"/>
                  <a:pt x="57944" y="16371"/>
                </a:cubicBezTo>
                <a:lnTo>
                  <a:pt x="76994" y="-7441"/>
                </a:lnTo>
                <a:cubicBezTo>
                  <a:pt x="85824" y="-18479"/>
                  <a:pt x="99616" y="-20216"/>
                  <a:pt x="110034" y="-11534"/>
                </a:cubicBezTo>
                <a:lnTo>
                  <a:pt x="144760" y="17363"/>
                </a:lnTo>
                <a:cubicBezTo>
                  <a:pt x="154186" y="12526"/>
                  <a:pt x="164207" y="9054"/>
                  <a:pt x="174427" y="7317"/>
                </a:cubicBezTo>
                <a:lnTo>
                  <a:pt x="192881" y="-39315"/>
                </a:lnTo>
                <a:cubicBezTo>
                  <a:pt x="198437" y="-53330"/>
                  <a:pt x="211038" y="-60399"/>
                  <a:pt x="223143" y="-56431"/>
                </a:cubicBezTo>
                <a:close/>
                <a:moveTo>
                  <a:pt x="190897" y="104180"/>
                </a:moveTo>
                <a:cubicBezTo>
                  <a:pt x="166802" y="104180"/>
                  <a:pt x="147241" y="128632"/>
                  <a:pt x="147241" y="158750"/>
                </a:cubicBezTo>
                <a:cubicBezTo>
                  <a:pt x="147241" y="188868"/>
                  <a:pt x="166802" y="213320"/>
                  <a:pt x="190897" y="213320"/>
                </a:cubicBezTo>
                <a:cubicBezTo>
                  <a:pt x="214991" y="213320"/>
                  <a:pt x="234553" y="188868"/>
                  <a:pt x="234553" y="158750"/>
                </a:cubicBezTo>
                <a:cubicBezTo>
                  <a:pt x="234553" y="128632"/>
                  <a:pt x="214991" y="104180"/>
                  <a:pt x="190897" y="104180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4" name="Text 12"/>
          <p:cNvSpPr/>
          <p:nvPr/>
        </p:nvSpPr>
        <p:spPr>
          <a:xfrm>
            <a:off x="6159500" y="2667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667500" y="3238500"/>
            <a:ext cx="2921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159500" y="3492500"/>
            <a:ext cx="3937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PMOS Transistor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NMOS Transistor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DC Voltage Supply (VDD = 5V)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Pulse Voltage Source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 Terminal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795000" y="1270000"/>
            <a:ext cx="4445000" cy="711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0" y="12700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9" name="Shape 17"/>
          <p:cNvSpPr/>
          <p:nvPr/>
        </p:nvSpPr>
        <p:spPr>
          <a:xfrm>
            <a:off x="12509500" y="1778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9688" y="39688"/>
                </a:moveTo>
                <a:cubicBezTo>
                  <a:pt x="61640" y="39688"/>
                  <a:pt x="79375" y="57423"/>
                  <a:pt x="79375" y="79375"/>
                </a:cubicBezTo>
                <a:lnTo>
                  <a:pt x="79375" y="496094"/>
                </a:lnTo>
                <a:cubicBezTo>
                  <a:pt x="79375" y="507008"/>
                  <a:pt x="88305" y="515937"/>
                  <a:pt x="99219" y="515937"/>
                </a:cubicBezTo>
                <a:lnTo>
                  <a:pt x="595313" y="515937"/>
                </a:lnTo>
                <a:cubicBezTo>
                  <a:pt x="617265" y="515937"/>
                  <a:pt x="635000" y="533673"/>
                  <a:pt x="635000" y="555625"/>
                </a:cubicBezTo>
                <a:cubicBezTo>
                  <a:pt x="635000" y="577577"/>
                  <a:pt x="617265" y="595313"/>
                  <a:pt x="595313" y="595313"/>
                </a:cubicBezTo>
                <a:lnTo>
                  <a:pt x="99219" y="595313"/>
                </a:lnTo>
                <a:cubicBezTo>
                  <a:pt x="44400" y="595313"/>
                  <a:pt x="0" y="550912"/>
                  <a:pt x="0" y="496094"/>
                </a:cubicBezTo>
                <a:lnTo>
                  <a:pt x="0" y="79375"/>
                </a:lnTo>
                <a:cubicBezTo>
                  <a:pt x="0" y="57423"/>
                  <a:pt x="17735" y="39688"/>
                  <a:pt x="39688" y="39688"/>
                </a:cubicBezTo>
                <a:close/>
                <a:moveTo>
                  <a:pt x="158750" y="119062"/>
                </a:moveTo>
                <a:cubicBezTo>
                  <a:pt x="158750" y="97110"/>
                  <a:pt x="176485" y="79375"/>
                  <a:pt x="198438" y="79375"/>
                </a:cubicBezTo>
                <a:lnTo>
                  <a:pt x="436563" y="79375"/>
                </a:lnTo>
                <a:cubicBezTo>
                  <a:pt x="458515" y="79375"/>
                  <a:pt x="476250" y="97110"/>
                  <a:pt x="476250" y="119062"/>
                </a:cubicBezTo>
                <a:cubicBezTo>
                  <a:pt x="476250" y="141015"/>
                  <a:pt x="458515" y="158750"/>
                  <a:pt x="436563" y="158750"/>
                </a:cubicBezTo>
                <a:lnTo>
                  <a:pt x="198438" y="158750"/>
                </a:lnTo>
                <a:cubicBezTo>
                  <a:pt x="176485" y="158750"/>
                  <a:pt x="158750" y="141015"/>
                  <a:pt x="158750" y="119062"/>
                </a:cubicBezTo>
                <a:close/>
                <a:moveTo>
                  <a:pt x="198438" y="218281"/>
                </a:moveTo>
                <a:lnTo>
                  <a:pt x="357188" y="218281"/>
                </a:lnTo>
                <a:cubicBezTo>
                  <a:pt x="379140" y="218281"/>
                  <a:pt x="396875" y="236017"/>
                  <a:pt x="396875" y="257969"/>
                </a:cubicBezTo>
                <a:cubicBezTo>
                  <a:pt x="396875" y="279921"/>
                  <a:pt x="379140" y="297656"/>
                  <a:pt x="357188" y="297656"/>
                </a:cubicBezTo>
                <a:lnTo>
                  <a:pt x="198438" y="297656"/>
                </a:lnTo>
                <a:cubicBezTo>
                  <a:pt x="176485" y="297656"/>
                  <a:pt x="158750" y="279921"/>
                  <a:pt x="158750" y="257969"/>
                </a:cubicBezTo>
                <a:cubicBezTo>
                  <a:pt x="158750" y="236017"/>
                  <a:pt x="176485" y="218281"/>
                  <a:pt x="198438" y="218281"/>
                </a:cubicBezTo>
                <a:close/>
                <a:moveTo>
                  <a:pt x="198438" y="357188"/>
                </a:moveTo>
                <a:lnTo>
                  <a:pt x="515937" y="357188"/>
                </a:lnTo>
                <a:cubicBezTo>
                  <a:pt x="537890" y="357188"/>
                  <a:pt x="555625" y="374923"/>
                  <a:pt x="555625" y="396875"/>
                </a:cubicBezTo>
                <a:cubicBezTo>
                  <a:pt x="555625" y="418827"/>
                  <a:pt x="537890" y="436563"/>
                  <a:pt x="515937" y="436563"/>
                </a:cubicBezTo>
                <a:lnTo>
                  <a:pt x="198438" y="436563"/>
                </a:lnTo>
                <a:cubicBezTo>
                  <a:pt x="176485" y="436563"/>
                  <a:pt x="158750" y="418827"/>
                  <a:pt x="158750" y="396875"/>
                </a:cubicBezTo>
                <a:cubicBezTo>
                  <a:pt x="158750" y="374923"/>
                  <a:pt x="176485" y="357188"/>
                  <a:pt x="198438" y="357188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2667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Performed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1557000" y="3238500"/>
            <a:ext cx="2921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1049000" y="3810000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Transient Analysis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 Measurement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Evaluation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952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13970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14500" y="1333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the CMOS inverter circuit using PMOS and NMOS transistors.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26035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14500" y="2540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 the PMOS transistor between VDD and output node.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0" y="38100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14500" y="3746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 the NMOS transistor between output node and ground.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50165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14500" y="4953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a pulse signal as the input voltage.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28000" y="1333500"/>
            <a:ext cx="0" cy="48895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382000" y="13970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80500" y="1333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Performed transient simulation using LTspice.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82000" y="26035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80500" y="2540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Observed input and output waveforms.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82000" y="38100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80500" y="3746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Measured propagation delay using cursor analysis.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82000" y="50165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80500" y="49530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Evaluated inverter performance and validated results.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6000" y="6350000"/>
            <a:ext cx="14224000" cy="203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6350000"/>
            <a:ext cx="14224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4" name="Text 22"/>
          <p:cNvSpPr/>
          <p:nvPr/>
        </p:nvSpPr>
        <p:spPr>
          <a:xfrm>
            <a:off x="1270000" y="654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Flow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70000" y="6985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Circuit Design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Connection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Signal Setup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LTspice Simulation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Waveform Analysis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 Measurement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Validation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/ Result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952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1079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CMOS Inverter Circuit</a:t>
            </a:r>
            <a:endParaRPr lang="en-US" sz="1600" dirty="0"/>
          </a:p>
        </p:txBody>
      </p:sp>
      <p:pic>
        <p:nvPicPr>
          <p:cNvPr id="6" name="Image 0" descr="https://kimi-img.moonshot.cn/pub/slides/okc/ah6dohp37rdyu/mnt/agents/output/cmos_inverter/images/circu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1498600"/>
            <a:ext cx="6858000" cy="355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0" y="1079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/ Output Waveforms</a:t>
            </a:r>
            <a:endParaRPr lang="en-US" sz="1600" dirty="0"/>
          </a:p>
        </p:txBody>
      </p:sp>
      <p:pic>
        <p:nvPicPr>
          <p:cNvPr id="8" name="Image 1" descr="https://kimi-img.moonshot.cn/pub/slides/okc/ah6dohp37rdyu/mnt/agents/output/cmos_inverter/images/wavefo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2000" y="1498600"/>
            <a:ext cx="6858000" cy="355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16000" y="5270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0" name="Text 6"/>
          <p:cNvSpPr/>
          <p:nvPr/>
        </p:nvSpPr>
        <p:spPr>
          <a:xfrm>
            <a:off x="1016000" y="5461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Observations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16000" y="59055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Vin = 0V → Vout = 5V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Vin = 5V → Vout = 0V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382000" y="5461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 Measurement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382000" y="59055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Propagation delay measured using LTspice cursors: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tpd ≈ 186.57 µs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89000" y="68961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Figure: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Propagation delay measurement using LTspice cursor analysis</a:t>
            </a:r>
            <a:endParaRPr lang="en-US" sz="1400" dirty="0"/>
          </a:p>
        </p:txBody>
      </p:sp>
      <p:pic>
        <p:nvPicPr>
          <p:cNvPr id="15" name="Image 2" descr="https://kimi-img.moonshot.cn/pub/slides/okc/ah6dohp37rdyu/mnt/agents/output/cmos_inverter/images/dela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5625" y="7267575"/>
            <a:ext cx="14906625" cy="173672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7" name="Text 1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952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16000" y="1270000"/>
            <a:ext cx="14224000" cy="711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270000"/>
            <a:ext cx="14224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7" name="Shape 5"/>
          <p:cNvSpPr/>
          <p:nvPr/>
        </p:nvSpPr>
        <p:spPr>
          <a:xfrm>
            <a:off x="139700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1587500"/>
            <a:ext cx="1282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CMOS inverter was successfully designed and simulated using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LTspice software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97000" y="292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0" name="Text 8"/>
          <p:cNvSpPr/>
          <p:nvPr/>
        </p:nvSpPr>
        <p:spPr>
          <a:xfrm>
            <a:off x="2032000" y="2794000"/>
            <a:ext cx="1282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simulation results confirmed that the output is always the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complement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input, demonstrating proper inverter operation.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97000" y="412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2" name="Text 10"/>
          <p:cNvSpPr/>
          <p:nvPr/>
        </p:nvSpPr>
        <p:spPr>
          <a:xfrm>
            <a:off x="2032000" y="4000500"/>
            <a:ext cx="1282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Propagation delay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 measured and the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switching characteristics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were analyzed.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97000" y="533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55A64"/>
          </a:solidFill>
          <a:ln/>
        </p:spPr>
      </p:sp>
      <p:sp>
        <p:nvSpPr>
          <p:cNvPr id="14" name="Text 12"/>
          <p:cNvSpPr/>
          <p:nvPr/>
        </p:nvSpPr>
        <p:spPr>
          <a:xfrm>
            <a:off x="2032000" y="5207000"/>
            <a:ext cx="1282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project highlights the importance of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CMOS technology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digital circuit design due to its low power consumption and efficient performance.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032000" y="6604000"/>
            <a:ext cx="12192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2032000" y="6921500"/>
            <a:ext cx="1219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Thus, the objectives of the project were successfully achieved.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7493000" y="228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105833" y="485676"/>
                </a:moveTo>
                <a:lnTo>
                  <a:pt x="567090" y="699244"/>
                </a:lnTo>
                <a:cubicBezTo>
                  <a:pt x="588698" y="709166"/>
                  <a:pt x="611628" y="714375"/>
                  <a:pt x="635000" y="714375"/>
                </a:cubicBezTo>
                <a:cubicBezTo>
                  <a:pt x="658372" y="714375"/>
                  <a:pt x="681302" y="709166"/>
                  <a:pt x="702910" y="699244"/>
                </a:cubicBezTo>
                <a:lnTo>
                  <a:pt x="1237368" y="451693"/>
                </a:lnTo>
                <a:cubicBezTo>
                  <a:pt x="1257212" y="442516"/>
                  <a:pt x="1270000" y="420936"/>
                  <a:pt x="1270000" y="396875"/>
                </a:cubicBezTo>
                <a:cubicBezTo>
                  <a:pt x="1270000" y="372814"/>
                  <a:pt x="1257212" y="351234"/>
                  <a:pt x="1237368" y="342057"/>
                </a:cubicBezTo>
                <a:lnTo>
                  <a:pt x="702910" y="94506"/>
                </a:lnTo>
                <a:cubicBezTo>
                  <a:pt x="681302" y="84584"/>
                  <a:pt x="658372" y="79375"/>
                  <a:pt x="635000" y="79375"/>
                </a:cubicBezTo>
                <a:cubicBezTo>
                  <a:pt x="611628" y="79375"/>
                  <a:pt x="588698" y="84584"/>
                  <a:pt x="567090" y="94506"/>
                </a:cubicBezTo>
                <a:lnTo>
                  <a:pt x="32632" y="342057"/>
                </a:lnTo>
                <a:cubicBezTo>
                  <a:pt x="12788" y="351234"/>
                  <a:pt x="0" y="372814"/>
                  <a:pt x="0" y="396875"/>
                </a:cubicBezTo>
                <a:lnTo>
                  <a:pt x="0" y="1131094"/>
                </a:lnTo>
                <a:cubicBezTo>
                  <a:pt x="0" y="1164084"/>
                  <a:pt x="23592" y="1190625"/>
                  <a:pt x="52917" y="1190625"/>
                </a:cubicBezTo>
                <a:cubicBezTo>
                  <a:pt x="82241" y="1190625"/>
                  <a:pt x="105833" y="1164084"/>
                  <a:pt x="105833" y="1131094"/>
                </a:cubicBezTo>
                <a:lnTo>
                  <a:pt x="105833" y="485676"/>
                </a:lnTo>
                <a:close/>
                <a:moveTo>
                  <a:pt x="211667" y="663525"/>
                </a:moveTo>
                <a:lnTo>
                  <a:pt x="211667" y="952500"/>
                </a:lnTo>
                <a:cubicBezTo>
                  <a:pt x="211667" y="1083965"/>
                  <a:pt x="401285" y="1190625"/>
                  <a:pt x="635000" y="1190625"/>
                </a:cubicBezTo>
                <a:cubicBezTo>
                  <a:pt x="868715" y="1190625"/>
                  <a:pt x="1058333" y="1083965"/>
                  <a:pt x="1058333" y="952500"/>
                </a:cubicBezTo>
                <a:lnTo>
                  <a:pt x="1058333" y="663277"/>
                </a:lnTo>
                <a:lnTo>
                  <a:pt x="743259" y="809377"/>
                </a:lnTo>
                <a:cubicBezTo>
                  <a:pt x="708863" y="825252"/>
                  <a:pt x="672262" y="833437"/>
                  <a:pt x="635000" y="833437"/>
                </a:cubicBezTo>
                <a:cubicBezTo>
                  <a:pt x="597738" y="833437"/>
                  <a:pt x="561137" y="825252"/>
                  <a:pt x="526741" y="809377"/>
                </a:cubicBezTo>
                <a:lnTo>
                  <a:pt x="211667" y="663277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048000" y="393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350000" y="4953000"/>
            <a:ext cx="3556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048000" y="5334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Madhumitha M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Electronics and Communication Engineering (ECE) · VLSI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Inverter Design and Analysis</dc:title>
  <dc:subject>CMOS Inverter Design and Analysis</dc:subject>
  <dc:creator>Kimi</dc:creator>
  <cp:lastModifiedBy>Kimi</cp:lastModifiedBy>
  <cp:revision>1</cp:revision>
  <dcterms:created xsi:type="dcterms:W3CDTF">2026-06-14T10:46:39Z</dcterms:created>
  <dcterms:modified xsi:type="dcterms:W3CDTF">2026-06-14T10:46:39Z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{"Label":"CMOS Inverter Design and Analysis","ContentProducer":"001191110108MACG2KBH8F10000","ProduceID":"19ec5b1d-15e2-8086-8000-0000adf8e7f9","ReservedCode1":"","ContentPropagator":"001191110108MACG2KBH8F20000","PropagateID":"19ec5b00-b9e2-8bbf-8000-09fcf068a0d9","ReservedCode2":""}</vt:lpwstr>
  </property>
</Properties>
</file>